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284" y="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40480"/>
          </a:xfrm>
          <a:prstGeom prst="rect">
            <a:avLst/>
          </a:prstGeom>
          <a:solidFill>
            <a:srgbClr val="15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7772400" y="457200"/>
            <a:ext cx="4114800" cy="320040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601200" y="1097280"/>
            <a:ext cx="2560320" cy="2560320"/>
          </a:xfrm>
          <a:prstGeom prst="ellipse">
            <a:avLst/>
          </a:prstGeom>
          <a:solidFill>
            <a:srgbClr val="098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68580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5600" b="1">
                <a:solidFill>
                  <a:srgbClr val="FFFFFF"/>
                </a:solidFill>
                <a:latin typeface="Microsoft YaHei"/>
              </a:defRPr>
            </a:pPr>
            <a:r>
              <a:t>康健图谱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6858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0">
                <a:solidFill>
                  <a:srgbClr val="00A896"/>
                </a:solidFill>
                <a:latin typeface="Arial"/>
              </a:defRPr>
            </a:pPr>
            <a:r>
              <a:t>Kangjian Atlas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474720"/>
            <a:ext cx="6858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0">
                <a:solidFill>
                  <a:srgbClr val="FFFFFF"/>
                </a:solidFill>
                <a:latin typeface="Microsoft YaHei"/>
              </a:defRPr>
            </a:pPr>
            <a:r>
              <a:t>基于大模型的个性化运动康复处方生成系统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303520"/>
            <a:ext cx="6400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8C0"/>
                </a:solidFill>
                <a:latin typeface="Microsoft YaHei"/>
              </a:defRPr>
            </a:pPr>
            <a:r>
              <a:t>软件2403班  |  王恒 · 周硕 · 刘经纬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760720"/>
            <a:ext cx="6400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B0B8C0"/>
                </a:solidFill>
                <a:latin typeface="Microsoft YaHei"/>
              </a:defRPr>
            </a:pPr>
            <a:r>
              <a:t>2026年华科实训二  ·  人工智能 + 医疗与生命健康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73152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548640"/>
            <a:ext cx="4572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1B3A5C"/>
                </a:solidFill>
                <a:latin typeface="Microsoft YaHei"/>
              </a:defRPr>
            </a:pPr>
            <a:r>
              <a:t>团队介绍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40080"/>
            <a:ext cx="54864" cy="73152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3474720" cy="41148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2926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1">
                <a:solidFill>
                  <a:srgbClr val="1B3A5C"/>
                </a:solidFill>
                <a:latin typeface="Microsoft YaHei"/>
              </a:defRPr>
            </a:pPr>
            <a:r>
              <a:t>王恒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51760"/>
            <a:ext cx="2926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A896"/>
                </a:solidFill>
                <a:latin typeface="Microsoft YaHei"/>
              </a:defRPr>
            </a:pPr>
            <a:r>
              <a:t>项目负责人 / 后端架构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63240"/>
            <a:ext cx="2926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B0B8C0"/>
                </a:solidFill>
                <a:latin typeface="Microsoft YaHei"/>
              </a:defRPr>
            </a:pP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1005840" y="3474720"/>
            <a:ext cx="292608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rPr dirty="0" err="1"/>
              <a:t>系统架构设计、FastAPI后端开发</a:t>
            </a:r>
            <a:br>
              <a:rPr dirty="0"/>
            </a:br>
            <a:r>
              <a:rPr dirty="0" err="1"/>
              <a:t>数据库ORM建模、大模型集成</a:t>
            </a:r>
            <a:br>
              <a:rPr dirty="0"/>
            </a:br>
            <a:r>
              <a:rPr dirty="0" err="1"/>
              <a:t>知识库与提示词工程、Docker部署</a:t>
            </a:r>
            <a:endParaRPr dirty="0"/>
          </a:p>
        </p:txBody>
      </p:sp>
      <p:sp>
        <p:nvSpPr>
          <p:cNvPr id="11" name="Rectangle 10"/>
          <p:cNvSpPr/>
          <p:nvPr/>
        </p:nvSpPr>
        <p:spPr>
          <a:xfrm>
            <a:off x="4480559" y="1828800"/>
            <a:ext cx="3474720" cy="41148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54879" y="2103120"/>
            <a:ext cx="2926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1">
                <a:solidFill>
                  <a:srgbClr val="1B3A5C"/>
                </a:solidFill>
                <a:latin typeface="Microsoft YaHei"/>
              </a:defRPr>
            </a:pPr>
            <a:r>
              <a:t>周硕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2651760"/>
            <a:ext cx="2926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A896"/>
                </a:solidFill>
                <a:latin typeface="Microsoft YaHei"/>
              </a:defRPr>
            </a:pPr>
            <a:r>
              <a:rPr lang="en-US" dirty="0"/>
              <a:t>AI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工程师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测试</a:t>
            </a:r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4754879" y="3063240"/>
            <a:ext cx="2926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B0B8C0"/>
                </a:solidFill>
                <a:latin typeface="Microsoft YaHei"/>
              </a:defRPr>
            </a:pPr>
            <a:endParaRPr dirty="0"/>
          </a:p>
        </p:txBody>
      </p:sp>
      <p:sp>
        <p:nvSpPr>
          <p:cNvPr id="15" name="TextBox 14"/>
          <p:cNvSpPr txBox="1"/>
          <p:nvPr/>
        </p:nvSpPr>
        <p:spPr>
          <a:xfrm>
            <a:off x="4754879" y="3474720"/>
            <a:ext cx="292608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rPr dirty="0" err="1"/>
              <a:t>姿态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估计模型集成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rPr dirty="0" err="1"/>
              <a:t>纠正算法（规则+ONNX推理</a:t>
            </a:r>
            <a:r>
              <a:rPr dirty="0"/>
              <a:t>）</a:t>
            </a:r>
            <a:endParaRPr lang="en-US" dirty="0"/>
          </a:p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rPr dirty="0" err="1"/>
              <a:t>关键点评分逻辑</a:t>
            </a:r>
            <a:endParaRPr lang="en-US" dirty="0"/>
          </a:p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文档撰写、演示文稿制作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229600" y="1828800"/>
            <a:ext cx="3474720" cy="41148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03920" y="2103120"/>
            <a:ext cx="2926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1">
                <a:solidFill>
                  <a:srgbClr val="1B3A5C"/>
                </a:solidFill>
                <a:latin typeface="Microsoft YaHei"/>
              </a:defRPr>
            </a:pPr>
            <a:r>
              <a:t>刘经纬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2651760"/>
            <a:ext cx="2926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A896"/>
                </a:solidFill>
                <a:latin typeface="Microsoft YaHei"/>
              </a:defRPr>
            </a:pPr>
            <a:r>
              <a:t>前端开发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3063240"/>
            <a:ext cx="2926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B0B8C0"/>
                </a:solidFill>
                <a:latin typeface="Microsoft YaHei"/>
              </a:defRPr>
            </a:pPr>
            <a:endParaRPr dirty="0"/>
          </a:p>
        </p:txBody>
      </p:sp>
      <p:sp>
        <p:nvSpPr>
          <p:cNvPr id="20" name="TextBox 19"/>
          <p:cNvSpPr txBox="1"/>
          <p:nvPr/>
        </p:nvSpPr>
        <p:spPr>
          <a:xfrm>
            <a:off x="8503920" y="3474720"/>
            <a:ext cx="292608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前端SPA页面开发、交互流程设计</a:t>
            </a:r>
            <a:br/>
            <a:r>
              <a:t>处方展示与动作反馈界面</a:t>
            </a:r>
            <a:br/>
            <a:r>
              <a:t>移动端适配、UI细节打磨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603504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00A896"/>
                </a:solidFill>
                <a:latin typeface="Microsoft YaHei"/>
              </a:defRPr>
            </a:pPr>
            <a:r>
              <a:t>"将康复治疗师装进手机" — 让每一位患者都能获得专业级的居家康复指导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6400" b="1">
                <a:solidFill>
                  <a:srgbClr val="FFFFFF"/>
                </a:solidFill>
                <a:latin typeface="Microsoft YaHei"/>
              </a:defRPr>
            </a:pPr>
            <a:r>
              <a:t>康健图谱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0">
                <a:solidFill>
                  <a:srgbClr val="00A896"/>
                </a:solidFill>
                <a:latin typeface="Arial"/>
              </a:defRPr>
            </a:pPr>
            <a:r>
              <a:t>KANGJIAN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0">
                <a:solidFill>
                  <a:srgbClr val="FFFFFF"/>
                </a:solidFill>
                <a:latin typeface="Microsoft YaHei"/>
              </a:defRPr>
            </a:pPr>
            <a:r>
              <a:t>基于大模型的个性化运动康复处方生成系统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8C0"/>
                </a:solidFill>
                <a:latin typeface="Microsoft YaHei"/>
              </a:defRPr>
            </a:pPr>
            <a:r>
              <a:t>AI + 医疗健康  |  FastAPI + DeepSeek + RTMPose  |  Web SPA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73152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548640"/>
            <a:ext cx="4572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000" b="1">
                <a:solidFill>
                  <a:srgbClr val="1B3A5C"/>
                </a:solidFill>
                <a:latin typeface="Microsoft YaHei"/>
              </a:defRPr>
            </a:pPr>
            <a:r>
              <a:t>目  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40080"/>
            <a:ext cx="54864" cy="73152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8288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7200" b="1">
                <a:solidFill>
                  <a:srgbClr val="00A896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691640"/>
            <a:ext cx="3657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B3A5C"/>
                </a:solidFill>
                <a:latin typeface="Microsoft YaHei"/>
              </a:defRPr>
            </a:pPr>
            <a:r>
              <a:t>项目概述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205740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背景痛点、系统定位、核心价值主张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0" y="2359152"/>
            <a:ext cx="7772400" cy="635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423160"/>
            <a:ext cx="18288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7200" b="1">
                <a:solidFill>
                  <a:srgbClr val="00A896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2468880"/>
            <a:ext cx="3657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B3A5C"/>
                </a:solidFill>
                <a:latin typeface="Microsoft YaHei"/>
              </a:defRPr>
            </a:pPr>
            <a:r>
              <a:t>技术架构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283464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总体架构、技术栈、核心调用链路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0" y="3136392"/>
            <a:ext cx="7772400" cy="635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3200400"/>
            <a:ext cx="18288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7200" b="1">
                <a:solidFill>
                  <a:srgbClr val="00A896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3246120"/>
            <a:ext cx="3657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B3A5C"/>
                </a:solidFill>
                <a:latin typeface="Microsoft YaHei"/>
              </a:defRPr>
            </a:pPr>
            <a:r>
              <a:t>亮点技术与创新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61188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AI处方生成、实时姿态纠正、多层安全机制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0" y="3913632"/>
            <a:ext cx="7772400" cy="635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3977639"/>
            <a:ext cx="18288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7200" b="1">
                <a:solidFill>
                  <a:srgbClr val="00A896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4023359"/>
            <a:ext cx="3657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B3A5C"/>
                </a:solidFill>
                <a:latin typeface="Microsoft YaHei"/>
              </a:defRPr>
            </a:pPr>
            <a:r>
              <a:t>AI + 软件工程实践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4389119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AI驱动的开发流程、错误处理与优化方法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0" y="4690871"/>
            <a:ext cx="7772400" cy="635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" y="4754880"/>
            <a:ext cx="18288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7200" b="1">
                <a:solidFill>
                  <a:srgbClr val="00A896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4800600"/>
            <a:ext cx="3657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B3A5C"/>
                </a:solidFill>
                <a:latin typeface="Microsoft YaHei"/>
              </a:defRPr>
            </a:pPr>
            <a:r>
              <a:t>核心功能演示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516636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处方生成、姿态纠正、医患协同、知识问答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0" y="5468112"/>
            <a:ext cx="7772400" cy="635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4400" y="5532120"/>
            <a:ext cx="18288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7200" b="1">
                <a:solidFill>
                  <a:srgbClr val="00A896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0" y="5577840"/>
            <a:ext cx="3657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B3A5C"/>
                </a:solidFill>
                <a:latin typeface="Microsoft YaHei"/>
              </a:defRPr>
            </a:pPr>
            <a:r>
              <a:t>项目总结与展望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0" y="594360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成果指标、挑战应对、未来路线图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8288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7200" b="1">
                <a:solidFill>
                  <a:srgbClr val="00A896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9144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>
                <a:solidFill>
                  <a:srgbClr val="FFFFFF"/>
                </a:solidFill>
                <a:latin typeface="Microsoft YaHei"/>
              </a:defRPr>
            </a:pPr>
            <a:r>
              <a:t>项目概述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B0B8C0"/>
                </a:solidFill>
                <a:latin typeface="Microsoft YaHei"/>
              </a:defRPr>
            </a:pPr>
            <a:r>
              <a:t>背景与痛点 · 解决方案 · 核心价值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73152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5486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1B3A5C"/>
                </a:solidFill>
                <a:latin typeface="Microsoft YaHei"/>
              </a:defRPr>
            </a:pPr>
            <a:r>
              <a:t>行业背景与痛点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48640"/>
            <a:ext cx="54864" cy="5486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548640" cy="54864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14400" y="1554480"/>
            <a:ext cx="548640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5486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0">
                <a:solidFill>
                  <a:srgbClr val="2D3436"/>
                </a:solidFill>
                <a:latin typeface="Microsoft YaHei"/>
              </a:defRPr>
            </a:pPr>
            <a:r>
              <a:t>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60020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专业资源稀缺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92024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康复医师数量严重不足，患者每周仅1-2次面对面指导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2514600"/>
            <a:ext cx="548640" cy="54864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914400" y="2514600"/>
            <a:ext cx="548640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560320"/>
            <a:ext cx="5486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0">
                <a:solidFill>
                  <a:srgbClr val="2D3436"/>
                </a:solidFill>
                <a:latin typeface="Microsoft YaHei"/>
              </a:defRPr>
            </a:pPr>
            <a:r>
              <a:t>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56032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康复方案同质化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288036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传统康复计划多为通用模板，难以针对个体差异调整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3474720"/>
            <a:ext cx="548640" cy="54864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14400" y="3474720"/>
            <a:ext cx="548640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5486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0">
                <a:solidFill>
                  <a:srgbClr val="2D3436"/>
                </a:solidFill>
                <a:latin typeface="Microsoft YaHei"/>
              </a:defRPr>
            </a:pPr>
            <a:r>
              <a:t>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52044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居家康复缺指导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84048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患者出院后缺乏科学指导，运动不足或过量均可能二次损伤</a:t>
            </a:r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548640" cy="54864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14400" y="4434840"/>
            <a:ext cx="548640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4480560"/>
            <a:ext cx="5486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0">
                <a:solidFill>
                  <a:srgbClr val="2D3436"/>
                </a:solidFill>
                <a:latin typeface="Microsoft YaHei"/>
              </a:defRPr>
            </a:pPr>
            <a:r>
              <a:t>⚠️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48056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依从性监测困难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480060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居家训练质量无法保证，动作不规范难以及时发现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5394960"/>
            <a:ext cx="548640" cy="54864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14400" y="5394960"/>
            <a:ext cx="548640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4400" y="5440680"/>
            <a:ext cx="5486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0">
                <a:solidFill>
                  <a:srgbClr val="2D3436"/>
                </a:solidFill>
                <a:latin typeface="Microsoft YaHei"/>
              </a:defRPr>
            </a:pPr>
            <a:r>
              <a:t>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544068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康复周期漫长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45920" y="576072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慢性病康复需数月持续干预，患者容易中途放弃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0" y="1554480"/>
            <a:ext cx="4389120" cy="45720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498079" y="1828800"/>
            <a:ext cx="3657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1B3A5C"/>
                </a:solidFill>
                <a:latin typeface="Microsoft YaHei"/>
              </a:defRPr>
            </a:pPr>
            <a:r>
              <a:t>市场机遇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2468880"/>
            <a:ext cx="3657600" cy="3200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636E72"/>
                </a:solidFill>
                <a:latin typeface="Microsoft YaHei"/>
              </a:defRPr>
            </a:pPr>
            <a:r>
              <a:t>政策利好："健康中国2030"明确发展康复医学</a:t>
            </a:r>
            <a:br/>
            <a:br/>
            <a:r>
              <a:t>2025年中国康复医疗器械市场规模</a:t>
            </a:r>
            <a:br/>
            <a:r>
              <a:t>超过 1500 亿元</a:t>
            </a:r>
            <a:br/>
            <a:br/>
            <a:r>
              <a:t>姿态估计算法精度达医疗级水准</a:t>
            </a:r>
            <a:br/>
            <a:br/>
            <a:r>
              <a:t>多模态大模型实现深度融合</a:t>
            </a:r>
            <a:br/>
            <a:br/>
            <a:r>
              <a:t>Rehab-Pile标准化康复数据集发布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73152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5486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1B3A5C"/>
                </a:solidFill>
                <a:latin typeface="Microsoft YaHei"/>
              </a:defRPr>
            </a:pPr>
            <a:r>
              <a:t>项目简介与核心价值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48640"/>
            <a:ext cx="54864" cy="5486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400" y="1645920"/>
            <a:ext cx="10332720" cy="2011680"/>
          </a:xfrm>
          <a:prstGeom prst="rect">
            <a:avLst/>
          </a:prstGeom>
          <a:solidFill>
            <a:srgbClr val="E0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9418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1B3A5C"/>
                </a:solidFill>
                <a:latin typeface="Microsoft YaHei"/>
              </a:defRPr>
            </a:pPr>
            <a:r>
              <a:t>💡 核心价值主张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286000"/>
            <a:ext cx="9418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00A896"/>
                </a:solidFill>
                <a:latin typeface="Microsoft YaHei"/>
              </a:defRPr>
            </a:pPr>
            <a:r>
              <a:t>"用一次评估，获取一份专属康复处方"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926080"/>
            <a:ext cx="94183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636E72"/>
                </a:solidFill>
                <a:latin typeface="Microsoft YaHei"/>
              </a:defRPr>
            </a:pPr>
            <a:r>
              <a:t>将康复医学知识图谱与视觉AI融合，实现"一人一方"的精准康复指导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4114800"/>
            <a:ext cx="2286000" cy="22860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4389120"/>
            <a:ext cx="1920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1B3A5C"/>
                </a:solidFill>
                <a:latin typeface="Microsoft YaHei"/>
              </a:defRPr>
            </a:pPr>
            <a:r>
              <a:t>🧠 AI处方生成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937760"/>
            <a:ext cx="192024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DeepSeek大模型+RAG</a:t>
            </a:r>
            <a:br/>
            <a:r>
              <a:t>知识检索个性化处方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49039" y="4114800"/>
            <a:ext cx="2286000" cy="22860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931919" y="4389120"/>
            <a:ext cx="1920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1B3A5C"/>
                </a:solidFill>
                <a:latin typeface="Microsoft YaHei"/>
              </a:defRPr>
            </a:pPr>
            <a:r>
              <a:t>📷 姿态实时纠正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19" y="4937760"/>
            <a:ext cx="192024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RTMPose+规则算法</a:t>
            </a:r>
            <a:br/>
            <a:r>
              <a:t>双模式动作评分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4114800"/>
            <a:ext cx="2286000" cy="22860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0" y="4389120"/>
            <a:ext cx="1920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1B3A5C"/>
                </a:solidFill>
                <a:latin typeface="Microsoft YaHei"/>
              </a:defRPr>
            </a:pPr>
            <a:r>
              <a:t>🛡️ 多层安全防护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937760"/>
            <a:ext cx="192024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红旗症状拦截+禁忌症</a:t>
            </a:r>
            <a:br/>
            <a:r>
              <a:t>过滤+处方免责声明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59" y="4114800"/>
            <a:ext cx="2286000" cy="22860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35439" y="4389120"/>
            <a:ext cx="1920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1B3A5C"/>
                </a:solidFill>
                <a:latin typeface="Microsoft YaHei"/>
              </a:defRPr>
            </a:pPr>
            <a:r>
              <a:t>📊 全流程追踪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39" y="4937760"/>
            <a:ext cx="192024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训练打卡+疲劳监测</a:t>
            </a:r>
            <a:br/>
            <a:r>
              <a:t>+康复进度可视化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73152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5486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1B3A5C"/>
                </a:solidFill>
                <a:latin typeface="Microsoft YaHei"/>
              </a:defRPr>
            </a:pPr>
            <a:r>
              <a:t>系统架构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48640"/>
            <a:ext cx="54864" cy="5486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400" y="1554480"/>
            <a:ext cx="10332720" cy="731520"/>
          </a:xfrm>
          <a:prstGeom prst="rect">
            <a:avLst/>
          </a:prstGeom>
          <a:solidFill>
            <a:srgbClr val="098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1645920"/>
            <a:ext cx="2286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用户端 (Web SPA)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645920"/>
            <a:ext cx="7315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问诊评估  |  处方展示  |  姿态跟练  |  训练反馈  |  知识科普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60604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0">
                <a:solidFill>
                  <a:srgbClr val="B0B8C0"/>
                </a:solidFill>
                <a:latin typeface="Microsoft YaHei"/>
              </a:defRPr>
            </a:pPr>
            <a:r>
              <a:t>⬆  ⬇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383280"/>
            <a:ext cx="10332720" cy="73152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3474720"/>
            <a:ext cx="2286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FastAPI 后端服务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474720"/>
            <a:ext cx="7315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认证鉴权  |  处方生成  |  姿态纠正  |  训练打卡  |  医患协同  |  后台管理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297680"/>
            <a:ext cx="10332720" cy="731520"/>
          </a:xfrm>
          <a:prstGeom prst="rect">
            <a:avLst/>
          </a:prstGeom>
          <a:solidFill>
            <a:srgbClr val="F9A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88720" y="4389120"/>
            <a:ext cx="2286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AI &amp; 算法层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389120"/>
            <a:ext cx="7315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DeepSeek大模型  |  RAG向量检索  |  RTMPose推理  |  规则算法  |  疲劳评估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5212080"/>
            <a:ext cx="10332720" cy="7315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88720" y="5303520"/>
            <a:ext cx="2286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数据 &amp; 存储层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5303520"/>
            <a:ext cx="7315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PostgreSQL/SQLite  |  Redis缓存  |  MinIO对象存储  |  Chroma向量库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612648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200" b="1">
                <a:solidFill>
                  <a:srgbClr val="00A896"/>
                </a:solidFill>
                <a:latin typeface="Microsoft YaHei"/>
              </a:defRPr>
            </a:pPr>
            <a:r>
              <a:t>17个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64008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t>Python模块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612648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200" b="1">
                <a:solidFill>
                  <a:srgbClr val="00A896"/>
                </a:solidFill>
                <a:latin typeface="Microsoft YaHei"/>
              </a:defRPr>
            </a:pPr>
            <a:r>
              <a:t>70+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64008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t>API端点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612648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200" b="1">
                <a:solidFill>
                  <a:srgbClr val="00A896"/>
                </a:solidFill>
                <a:latin typeface="Microsoft YaHei"/>
              </a:defRPr>
            </a:pPr>
            <a:r>
              <a:t>12张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64008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t>业务表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612648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200" b="1">
                <a:solidFill>
                  <a:srgbClr val="00A896"/>
                </a:solidFill>
                <a:latin typeface="Microsoft YaHei"/>
              </a:defRPr>
            </a:pPr>
            <a:r>
              <a:t>16个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64008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t>康复动作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59" y="612648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200" b="1">
                <a:solidFill>
                  <a:srgbClr val="00A896"/>
                </a:solidFill>
                <a:latin typeface="Microsoft YaHei"/>
              </a:defRPr>
            </a:pPr>
            <a:r>
              <a:t>16/16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59" y="64008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t>测试通过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73152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5486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1B3A5C"/>
                </a:solidFill>
                <a:latin typeface="Microsoft YaHei"/>
              </a:defRPr>
            </a:pPr>
            <a:r>
              <a:t>技术栈全景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48640"/>
            <a:ext cx="54864" cy="5486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400" y="1554480"/>
            <a:ext cx="1828800" cy="1005840"/>
          </a:xfrm>
          <a:prstGeom prst="rect">
            <a:avLst/>
          </a:prstGeom>
          <a:solidFill>
            <a:srgbClr val="098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前端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64592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1B3A5C"/>
                </a:solidFill>
                <a:latin typeface="Microsoft YaHei"/>
              </a:defRPr>
            </a:pPr>
            <a:r>
              <a:t>HTML5 + CSS3 + 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01168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t>原生SPA，零构建依赖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4592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1B3A5C"/>
                </a:solidFill>
                <a:latin typeface="Microsoft YaHei"/>
              </a:defRPr>
            </a:pPr>
            <a:r>
              <a:t>MediaPipe Pose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01168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t>33关键点姿态检测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788920"/>
            <a:ext cx="1828800" cy="10058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3063240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后端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88036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1B3A5C"/>
                </a:solidFill>
                <a:latin typeface="Microsoft YaHei"/>
              </a:defRPr>
            </a:pPr>
            <a:r>
              <a:t>FastAPI (Python 3.13+)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324612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t>异步框架，自动Swagger文档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88036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1B3A5C"/>
                </a:solidFill>
                <a:latin typeface="Microsoft YaHei"/>
              </a:defRPr>
            </a:pPr>
            <a:r>
              <a:t>SQLAlchemy 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324612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t>12张业务表统一建模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95759" y="288036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1B3A5C"/>
                </a:solidFill>
                <a:latin typeface="Microsoft YaHei"/>
              </a:defRPr>
            </a:pPr>
            <a:r>
              <a:t>JWT鉴权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95759" y="324612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t>PBKDF2-HMAC-SHA256密码哈希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023360"/>
            <a:ext cx="1828800" cy="1005840"/>
          </a:xfrm>
          <a:prstGeom prst="rect">
            <a:avLst/>
          </a:prstGeom>
          <a:solidFill>
            <a:srgbClr val="F9A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4297680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AI &amp; 算法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411480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1B3A5C"/>
                </a:solidFill>
                <a:latin typeface="Microsoft YaHei"/>
              </a:defRPr>
            </a:pPr>
            <a:r>
              <a:t>DeepSeek / 火山方舟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448056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t>OpenAI兼容接口，大模型处方生成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411480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1B3A5C"/>
                </a:solidFill>
                <a:latin typeface="Microsoft YaHei"/>
              </a:defRPr>
            </a:pPr>
            <a:r>
              <a:t>RAG (Chroma/Qdrant)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448056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t>向量检索增强知识问答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95759" y="411480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1B3A5C"/>
                </a:solidFill>
                <a:latin typeface="Microsoft YaHei"/>
              </a:defRPr>
            </a:pPr>
            <a:r>
              <a:t>RTMPose ONNX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95759" y="448056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t>姿态推理 + 规则算法双模式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5257800"/>
            <a:ext cx="1828800" cy="10058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4400" y="5532120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基础设施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17520" y="534924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1B3A5C"/>
                </a:solidFill>
                <a:latin typeface="Microsoft YaHei"/>
              </a:defRPr>
            </a:pPr>
            <a:r>
              <a:t>PostgreSQL / SQLite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17520" y="571500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t>数据库双模式，一键切换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534924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1B3A5C"/>
                </a:solidFill>
                <a:latin typeface="Microsoft YaHei"/>
              </a:defRPr>
            </a:pPr>
            <a:r>
              <a:t>Redis + MinIO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571500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t>缓存 + 对象存储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95759" y="534924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1B3A5C"/>
                </a:solidFill>
                <a:latin typeface="Microsoft YaHei"/>
              </a:defRPr>
            </a:pPr>
            <a:r>
              <a:t>Docker Compose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59" y="5715000"/>
            <a:ext cx="3931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t>一键部署完整技术栈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8288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7200" b="1">
                <a:solidFill>
                  <a:srgbClr val="00A896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9144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>
                <a:solidFill>
                  <a:srgbClr val="FFFFFF"/>
                </a:solidFill>
                <a:latin typeface="Microsoft YaHei"/>
              </a:defRPr>
            </a:pPr>
            <a:r>
              <a:t>亮点技术与创新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B0B8C0"/>
                </a:solidFill>
                <a:latin typeface="Microsoft YaHei"/>
              </a:defRPr>
            </a:pPr>
            <a:r>
              <a:t>AI驱动处方生成 · 实时姿态纠正 · 多层安全机制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73152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1B3A5C"/>
                </a:solidFill>
                <a:latin typeface="Microsoft YaHei"/>
              </a:defRPr>
            </a:pPr>
            <a:r>
              <a:t>✨ 创新点一：AI驱动的个性化处方生成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48640"/>
            <a:ext cx="54864" cy="5486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1554480" cy="128016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1371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用户评估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94560"/>
            <a:ext cx="1371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主诉+疼痛部位</a:t>
            </a:r>
            <a:br/>
            <a:r>
              <a:t>+活动度评分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011680"/>
            <a:ext cx="914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3200" b="1">
                <a:solidFill>
                  <a:srgbClr val="00A89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0" y="1645920"/>
            <a:ext cx="1554480" cy="128016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023360" y="1783080"/>
            <a:ext cx="1371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RAG检索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2194560"/>
            <a:ext cx="1371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知识库匹配</a:t>
            </a:r>
            <a:br/>
            <a:r>
              <a:t>候选动作检索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599" y="2011680"/>
            <a:ext cx="914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3200" b="1">
                <a:solidFill>
                  <a:srgbClr val="00A89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06640" y="1645920"/>
            <a:ext cx="1554480" cy="1280160"/>
          </a:xfrm>
          <a:prstGeom prst="rect">
            <a:avLst/>
          </a:prstGeom>
          <a:solidFill>
            <a:srgbClr val="098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98080" y="1783080"/>
            <a:ext cx="1371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DeepSeek推理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0" y="2194560"/>
            <a:ext cx="1371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提示词模板</a:t>
            </a:r>
            <a:br/>
            <a:r>
              <a:t>+上下文组装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2011680"/>
            <a:ext cx="914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3200" b="1">
                <a:solidFill>
                  <a:srgbClr val="00A89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881359" y="1645920"/>
            <a:ext cx="1554480" cy="1280160"/>
          </a:xfrm>
          <a:prstGeom prst="rect">
            <a:avLst/>
          </a:prstGeom>
          <a:solidFill>
            <a:srgbClr val="F9A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972799" y="1783080"/>
            <a:ext cx="1371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安全过滤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799" y="2194560"/>
            <a:ext cx="1371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红旗症状检测</a:t>
            </a:r>
            <a:br/>
            <a:r>
              <a:t>+禁忌症过滤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93039" y="2011680"/>
            <a:ext cx="914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3200" b="1">
                <a:solidFill>
                  <a:srgbClr val="00A89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356080" y="1645920"/>
            <a:ext cx="1554480" cy="1280160"/>
          </a:xfrm>
          <a:prstGeom prst="rect">
            <a:avLst/>
          </a:prstGeom>
          <a:solidFill>
            <a:srgbClr val="F9A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4447520" y="1783080"/>
            <a:ext cx="1371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处方输出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447520" y="2194560"/>
            <a:ext cx="1371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0">
                <a:solidFill>
                  <a:srgbClr val="FFFFFF"/>
                </a:solidFill>
                <a:latin typeface="Microsoft YaHei"/>
              </a:defRPr>
            </a:pPr>
            <a:r>
              <a:t>个性化方案</a:t>
            </a:r>
            <a:br/>
            <a:r>
              <a:t>+安全提醒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383280"/>
            <a:ext cx="4572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1B3A5C"/>
                </a:solidFill>
                <a:latin typeface="Microsoft YaHei"/>
              </a:defRPr>
            </a:pPr>
            <a:r>
              <a:t>传统方案 vs 本系统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3931920"/>
            <a:ext cx="4754880" cy="237744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188720" y="4023360"/>
            <a:ext cx="42062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E74C3C"/>
                </a:solidFill>
                <a:latin typeface="Microsoft YaHei"/>
              </a:defRPr>
            </a:pPr>
            <a:r>
              <a:t>❌ 传统方案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4480560"/>
            <a:ext cx="4206240" cy="1554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• 通用康复动作视频</a:t>
            </a:r>
            <a:br/>
            <a:r>
              <a:t>• 用户自己判断是否适合</a:t>
            </a:r>
            <a:br/>
            <a:r>
              <a:t>• 无个性化调整</a:t>
            </a:r>
            <a:br/>
            <a:r>
              <a:t>• 缺乏安全提醒</a:t>
            </a:r>
            <a:br/>
            <a:r>
              <a:t>• 无执行反馈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3931920"/>
            <a:ext cx="5029200" cy="2377440"/>
          </a:xfrm>
          <a:prstGeom prst="rect">
            <a:avLst/>
          </a:prstGeom>
          <a:solidFill>
            <a:srgbClr val="E0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92240" y="40233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27AE60"/>
                </a:solidFill>
                <a:latin typeface="Microsoft YaHei"/>
              </a:defRPr>
            </a:pPr>
            <a:r>
              <a:t>✅ 本系统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4480560"/>
            <a:ext cx="4572000" cy="1554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• AI评估 → 知识匹配 → 个性化适配</a:t>
            </a:r>
            <a:br/>
            <a:r>
              <a:t>• 同病不同方（年龄/体质差异化）</a:t>
            </a:r>
            <a:br/>
            <a:r>
              <a:t>• 多层安全校验 + 免责声明</a:t>
            </a:r>
            <a:br/>
            <a:r>
              <a:t>• 实时姿态纠正反馈</a:t>
            </a:r>
            <a:br/>
            <a:r>
              <a:t>• 训练全流程追踪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73152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1B3A5C"/>
                </a:solidFill>
                <a:latin typeface="Microsoft YaHei"/>
              </a:defRPr>
            </a:pPr>
            <a:r>
              <a:t>✨ 创新点二：实时动作跟练与智能纠错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48640"/>
            <a:ext cx="54864" cy="5486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400" y="1554480"/>
            <a:ext cx="10332720" cy="18288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1645920"/>
            <a:ext cx="9784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🎯 姿态纠正技术链路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2103120"/>
            <a:ext cx="1463040" cy="1097280"/>
          </a:xfrm>
          <a:prstGeom prst="rect">
            <a:avLst/>
          </a:prstGeom>
          <a:solidFill>
            <a:srgbClr val="098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80160" y="2194560"/>
            <a:ext cx="1280160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摄像头</a:t>
            </a:r>
            <a:br/>
            <a:r>
              <a:t>视频流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468880"/>
            <a:ext cx="3657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00A89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6080" y="2103120"/>
            <a:ext cx="1463040" cy="1097280"/>
          </a:xfrm>
          <a:prstGeom prst="rect">
            <a:avLst/>
          </a:prstGeom>
          <a:solidFill>
            <a:srgbClr val="098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017520" y="2194560"/>
            <a:ext cx="1280160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关键帧</a:t>
            </a:r>
            <a:br/>
            <a:r>
              <a:t>截取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468880"/>
            <a:ext cx="3657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00A89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2103120"/>
            <a:ext cx="1463040" cy="1097280"/>
          </a:xfrm>
          <a:prstGeom prst="rect">
            <a:avLst/>
          </a:prstGeom>
          <a:solidFill>
            <a:srgbClr val="098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754880" y="2194560"/>
            <a:ext cx="1280160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RTMPose</a:t>
            </a:r>
            <a:br/>
            <a:r>
              <a:t>姿态估计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2468880"/>
            <a:ext cx="3657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00A89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799" y="2103120"/>
            <a:ext cx="1463040" cy="1097280"/>
          </a:xfrm>
          <a:prstGeom prst="rect">
            <a:avLst/>
          </a:prstGeom>
          <a:solidFill>
            <a:srgbClr val="098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39" y="2194560"/>
            <a:ext cx="1280160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关键点</a:t>
            </a:r>
            <a:br/>
            <a:r>
              <a:t>坐标提取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399" y="2468880"/>
            <a:ext cx="3657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00A89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2103120"/>
            <a:ext cx="1463040" cy="1097280"/>
          </a:xfrm>
          <a:prstGeom prst="rect">
            <a:avLst/>
          </a:prstGeom>
          <a:solidFill>
            <a:srgbClr val="098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0" y="2194560"/>
            <a:ext cx="1280160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角度/距离</a:t>
            </a:r>
            <a:br/>
            <a:r>
              <a:t>计算评分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2468880"/>
            <a:ext cx="3657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00A89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75520" y="2103120"/>
            <a:ext cx="1463040" cy="1097280"/>
          </a:xfrm>
          <a:prstGeom prst="rect">
            <a:avLst/>
          </a:prstGeom>
          <a:solidFill>
            <a:srgbClr val="098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966960" y="2194560"/>
            <a:ext cx="1280160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反馈建议</a:t>
            </a:r>
            <a:br/>
            <a:r>
              <a:t>+3D骨骼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749039"/>
            <a:ext cx="4572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1B3A5C"/>
                </a:solidFill>
                <a:latin typeface="Microsoft YaHei"/>
              </a:defRPr>
            </a:pPr>
            <a:r>
              <a:t>双模式架构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4206240"/>
            <a:ext cx="5029200" cy="210312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97280" y="4297680"/>
            <a:ext cx="46634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00A896"/>
                </a:solidFill>
                <a:latin typeface="Microsoft YaHei"/>
              </a:defRPr>
            </a:pPr>
            <a:r>
              <a:t>规则算法模式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4754880"/>
            <a:ext cx="466344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t>• 纯Python计算角度和距离</a:t>
            </a:r>
            <a:br/>
            <a:r>
              <a:t>• 支持neck_side_bend等动作</a:t>
            </a:r>
            <a:br/>
            <a:r>
              <a:t>• 零额外依赖，即时响应</a:t>
            </a:r>
            <a:br/>
            <a:r>
              <a:t>• 适合已知标准动作模板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4206240"/>
            <a:ext cx="5029200" cy="210312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83680" y="4297680"/>
            <a:ext cx="46634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9A03F"/>
                </a:solidFill>
                <a:latin typeface="Microsoft YaHei"/>
              </a:defRPr>
            </a:pPr>
            <a:r>
              <a:t>RTMPose ONNX推理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4754880"/>
            <a:ext cx="466344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t>• 深度学习姿态估计模型</a:t>
            </a:r>
            <a:br/>
            <a:r>
              <a:t>• WebSocket实时推理</a:t>
            </a:r>
            <a:br/>
            <a:r>
              <a:t>• 批量帧处理(最高30帧)</a:t>
            </a:r>
            <a:br/>
            <a:r>
              <a:t>• 适合复杂动作和未知姿态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73152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1B3A5C"/>
                </a:solidFill>
                <a:latin typeface="Microsoft YaHei"/>
              </a:defRPr>
            </a:pPr>
            <a:r>
              <a:t>✨ 创新点三：多层安全防护机制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48640"/>
            <a:ext cx="54864" cy="5486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457200" y="1463040"/>
            <a:ext cx="320040" cy="32004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481328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63040"/>
            <a:ext cx="5029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00A896"/>
                </a:solidFill>
                <a:latin typeface="Microsoft YaHei"/>
              </a:defRPr>
            </a:pPr>
            <a:r>
              <a:t>第1层：红旗症状拦截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检测10+高风险关键词（剧烈疼痛/骨折/马尾综合征等），命中即阻止处方生成，强制就医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2468880"/>
            <a:ext cx="320040" cy="320040"/>
          </a:xfrm>
          <a:prstGeom prst="ellipse">
            <a:avLst/>
          </a:prstGeom>
          <a:solidFill>
            <a:srgbClr val="098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2487168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68880"/>
            <a:ext cx="5029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098DD1"/>
                </a:solidFill>
                <a:latin typeface="Microsoft YaHei"/>
              </a:defRPr>
            </a:pPr>
            <a:r>
              <a:t>第2层：影像风险分析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83464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读取影像报告风险等级，high风险阻止处方；OCR提取关键诊断信息辅助判断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3474720"/>
            <a:ext cx="320040" cy="320040"/>
          </a:xfrm>
          <a:prstGeom prst="ellipse">
            <a:avLst/>
          </a:prstGeom>
          <a:solidFill>
            <a:srgbClr val="F9A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3493008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474720"/>
            <a:ext cx="5029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F9A03F"/>
                </a:solidFill>
                <a:latin typeface="Microsoft YaHei"/>
              </a:defRPr>
            </a:pPr>
            <a:r>
              <a:t>第3层：动作安全过滤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84048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根据患者疼痛部位和禁忌症自动筛选/降阶候选动作，安全模块独立校验</a:t>
            </a:r>
          </a:p>
        </p:txBody>
      </p:sp>
      <p:sp>
        <p:nvSpPr>
          <p:cNvPr id="18" name="Oval 17"/>
          <p:cNvSpPr/>
          <p:nvPr/>
        </p:nvSpPr>
        <p:spPr>
          <a:xfrm>
            <a:off x="457200" y="4480560"/>
            <a:ext cx="320040" cy="320040"/>
          </a:xfrm>
          <a:prstGeom prst="ellipse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" y="4498848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480560"/>
            <a:ext cx="5029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1B3A5C"/>
                </a:solidFill>
                <a:latin typeface="Microsoft YaHei"/>
              </a:defRPr>
            </a:pPr>
            <a:r>
              <a:t>第4层：大模型兜底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84632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API调用失败时使用本地安全兜底摘要，保证演示流程不中断</a:t>
            </a:r>
          </a:p>
        </p:txBody>
      </p:sp>
      <p:sp>
        <p:nvSpPr>
          <p:cNvPr id="22" name="Oval 21"/>
          <p:cNvSpPr/>
          <p:nvPr/>
        </p:nvSpPr>
        <p:spPr>
          <a:xfrm>
            <a:off x="457200" y="5486400"/>
            <a:ext cx="320040" cy="320040"/>
          </a:xfrm>
          <a:prstGeom prst="ellipse">
            <a:avLst/>
          </a:prstGeom>
          <a:solidFill>
            <a:srgbClr val="636E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2920" y="5504688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486400"/>
            <a:ext cx="5029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636E72"/>
                </a:solidFill>
                <a:latin typeface="Microsoft YaHei"/>
              </a:defRPr>
            </a:pPr>
            <a:r>
              <a:t>第5层：免责声明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585216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所有处方标注"仅供参考，请遵医嘱"；密码PBKDF2加盐哈希；JWT鉴权隔离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0" y="1463040"/>
            <a:ext cx="3017520" cy="4572000"/>
          </a:xfrm>
          <a:prstGeom prst="rect">
            <a:avLst/>
          </a:prstGeom>
          <a:solidFill>
            <a:srgbClr val="E0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961120" y="1645920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1B3A5C"/>
                </a:solidFill>
                <a:latin typeface="Microsoft YaHei"/>
              </a:defRPr>
            </a:pPr>
            <a:r>
              <a:t>安全保障数据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0" y="2286000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1">
                <a:solidFill>
                  <a:srgbClr val="00A896"/>
                </a:solidFill>
                <a:latin typeface="Microsoft YaHei"/>
              </a:defRPr>
            </a:pPr>
            <a:r>
              <a:t>10+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2606040"/>
            <a:ext cx="24688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红旗症状</a:t>
            </a:r>
            <a:br/>
            <a:r>
              <a:t>检测关键词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0" y="3200400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1">
                <a:solidFill>
                  <a:srgbClr val="00A896"/>
                </a:solidFill>
                <a:latin typeface="Microsoft YaHei"/>
              </a:defRPr>
            </a:pPr>
            <a:r>
              <a:t>3级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0" y="3520440"/>
            <a:ext cx="24688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风险分级</a:t>
            </a:r>
            <a:br/>
            <a:r>
              <a:t>(绿/黄/红)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0" y="4114800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1">
                <a:solidFill>
                  <a:srgbClr val="00A896"/>
                </a:solidFill>
                <a:latin typeface="Microsoft YaHei"/>
              </a:defRPr>
            </a:pPr>
            <a:r>
              <a:t>100%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0" y="4434840"/>
            <a:ext cx="24688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处方包含</a:t>
            </a:r>
            <a:br/>
            <a:r>
              <a:t>免责声明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0" y="5029200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1">
                <a:solidFill>
                  <a:srgbClr val="00A896"/>
                </a:solidFill>
                <a:latin typeface="Microsoft YaHei"/>
              </a:defRPr>
            </a:pPr>
            <a:r>
              <a:t>16/16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20" y="5349240"/>
            <a:ext cx="24688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自动化测试</a:t>
            </a:r>
            <a:br/>
            <a:r>
              <a:t>全部通过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8288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7200" b="1">
                <a:solidFill>
                  <a:srgbClr val="00A896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9144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>
                <a:solidFill>
                  <a:srgbClr val="FFFFFF"/>
                </a:solidFill>
                <a:latin typeface="Microsoft YaHei"/>
              </a:defRPr>
            </a:pPr>
            <a:r>
              <a:t>AI + 软件工程实践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B0B8C0"/>
                </a:solidFill>
                <a:latin typeface="Microsoft YaHei"/>
              </a:defRPr>
            </a:pPr>
            <a:r>
              <a:t>AI驱动的开发流程 · 错误处理与优化 · 提示词工程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73152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1B3A5C"/>
                </a:solidFill>
                <a:latin typeface="Microsoft YaHei"/>
              </a:defRPr>
            </a:pPr>
            <a:r>
              <a:t>AI驱动的软件开发过程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48640"/>
            <a:ext cx="54864" cy="5486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2697480" cy="5486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2697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需求分析阶段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• 利用AI辅助分析赛题需求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• 自动生成用户故事和用例文档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108960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• AI辅助数据库ER图设计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520440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• 生成API接口规范初稿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1554480"/>
            <a:ext cx="2697480" cy="548640"/>
          </a:xfrm>
          <a:prstGeom prst="rect">
            <a:avLst/>
          </a:prstGeom>
          <a:solidFill>
            <a:srgbClr val="098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37560" y="1600200"/>
            <a:ext cx="2697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编码实现阶段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286000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• AI辅助代码框架生成（FastAPI路由/模型）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697480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• 利用AI快速迭代API接口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3108960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• AI辅助编写CRUD和数据校验逻辑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520440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• 自动补全Pydantic Schema定义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554480"/>
            <a:ext cx="2697480" cy="548640"/>
          </a:xfrm>
          <a:prstGeom prst="rect">
            <a:avLst/>
          </a:prstGeom>
          <a:solidFill>
            <a:srgbClr val="F9A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17920" y="1600200"/>
            <a:ext cx="2697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测试优化阶段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2286000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• AI生成自动化测试脚本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2697480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• 辅助分析测试失败原因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108960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• AI建议性能优化方案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520440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• 自动生成API文档和Swagger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1554480"/>
            <a:ext cx="2697480" cy="5486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098280" y="1600200"/>
            <a:ext cx="2697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文档交付阶段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286000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• AI辅助生成架构文档和API文档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2697480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• 自动整理项目README和部署说明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3108960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• AI辅助生成答辩PPT和演示脚本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520440"/>
            <a:ext cx="246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• 知识库内容AI辅助整理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572000"/>
            <a:ext cx="11247120" cy="1645920"/>
          </a:xfrm>
          <a:prstGeom prst="rect">
            <a:avLst/>
          </a:prstGeom>
          <a:solidFill>
            <a:srgbClr val="E0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14400" y="4663440"/>
            <a:ext cx="10332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📊 AI在项目中的参与度统计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512064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1">
                <a:solidFill>
                  <a:srgbClr val="00A896"/>
                </a:solidFill>
                <a:latin typeface="Microsoft YaHei"/>
              </a:defRPr>
            </a:pPr>
            <a:r>
              <a:t>70%+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54864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1B3A5C"/>
                </a:solidFill>
                <a:latin typeface="Microsoft YaHei"/>
              </a:defRPr>
            </a:pPr>
            <a:r>
              <a:t>后端代码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580644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0">
                <a:solidFill>
                  <a:srgbClr val="636E72"/>
                </a:solidFill>
                <a:latin typeface="Microsoft YaHei"/>
              </a:defRPr>
            </a:pPr>
            <a:r>
              <a:t>AI辅助生成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12064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1">
                <a:solidFill>
                  <a:srgbClr val="00A896"/>
                </a:solidFill>
                <a:latin typeface="Microsoft YaHei"/>
              </a:defRPr>
            </a:pPr>
            <a:r>
              <a:t>90%+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4864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1B3A5C"/>
                </a:solidFill>
                <a:latin typeface="Microsoft YaHei"/>
              </a:defRPr>
            </a:pPr>
            <a:r>
              <a:t>测试用例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0" y="580644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0">
                <a:solidFill>
                  <a:srgbClr val="636E72"/>
                </a:solidFill>
                <a:latin typeface="Microsoft YaHei"/>
              </a:defRPr>
            </a:pPr>
            <a:r>
              <a:t>AI自动生成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03520" y="512064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1">
                <a:solidFill>
                  <a:srgbClr val="00A896"/>
                </a:solidFill>
                <a:latin typeface="Microsoft YaHei"/>
              </a:defRPr>
            </a:pPr>
            <a:r>
              <a:t>80%+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3520" y="54864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1B3A5C"/>
                </a:solidFill>
                <a:latin typeface="Microsoft YaHei"/>
              </a:defRPr>
            </a:pPr>
            <a:r>
              <a:t>项目文档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03520" y="580644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0">
                <a:solidFill>
                  <a:srgbClr val="636E72"/>
                </a:solidFill>
                <a:latin typeface="Microsoft YaHei"/>
              </a:defRPr>
            </a:pPr>
            <a:r>
              <a:t>AI辅助编写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06640" y="512064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1">
                <a:solidFill>
                  <a:srgbClr val="00A896"/>
                </a:solidFill>
                <a:latin typeface="Microsoft YaHei"/>
              </a:defRPr>
            </a:pPr>
            <a:r>
              <a:t>60%+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6640" y="54864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1B3A5C"/>
                </a:solidFill>
                <a:latin typeface="Microsoft YaHei"/>
              </a:defRPr>
            </a:pPr>
            <a:r>
              <a:t>API设计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06640" y="580644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0">
                <a:solidFill>
                  <a:srgbClr val="636E72"/>
                </a:solidFill>
                <a:latin typeface="Microsoft YaHei"/>
              </a:defRPr>
            </a:pPr>
            <a:r>
              <a:t>AI参与设计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09759" y="512064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1">
                <a:solidFill>
                  <a:srgbClr val="00A896"/>
                </a:solidFill>
                <a:latin typeface="Microsoft YaHei"/>
              </a:defRPr>
            </a:pPr>
            <a:r>
              <a:t>50%+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09759" y="54864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1B3A5C"/>
                </a:solidFill>
                <a:latin typeface="Microsoft YaHei"/>
              </a:defRPr>
            </a:pPr>
            <a:r>
              <a:t>知识库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09759" y="580644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0">
                <a:solidFill>
                  <a:srgbClr val="636E72"/>
                </a:solidFill>
                <a:latin typeface="Microsoft YaHei"/>
              </a:defRPr>
            </a:pPr>
            <a:r>
              <a:t>AI辅助整理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73152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1B3A5C"/>
                </a:solidFill>
                <a:latin typeface="Microsoft YaHei"/>
              </a:defRPr>
            </a:pPr>
            <a:r>
              <a:t>AI错误处理与优化方法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48640"/>
            <a:ext cx="54864" cy="5486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5394960" cy="237744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00A896"/>
                </a:solidFill>
                <a:latin typeface="Microsoft YaHei"/>
              </a:defRPr>
            </a:pPr>
            <a:r>
              <a:t>🔌 大模型API不可用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5029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E74C3C"/>
                </a:solidFill>
                <a:latin typeface="Microsoft YaHei"/>
              </a:defRPr>
            </a:pPr>
            <a:r>
              <a:t>问题：网络延迟、鉴权失败、服务不稳定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40280"/>
            <a:ext cx="50292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t>解决方案：</a:t>
            </a:r>
            <a:br/>
            <a:r>
              <a:t>  ✓ 本地兜底摘要机制：API失败自动降级</a:t>
            </a:r>
            <a:br/>
            <a:r>
              <a:t>  ✓ 基于知识库直接匹配动作候选列表</a:t>
            </a:r>
            <a:br/>
            <a:r>
              <a:t>  ✓ 生成标准化安全处方，保证演示不间断</a:t>
            </a:r>
            <a:br/>
            <a:r>
              <a:t>  ✓ 预设动作模板快速响应（&lt;1秒）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63040"/>
            <a:ext cx="5394960" cy="237744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09360" y="155448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098DD1"/>
                </a:solidFill>
                <a:latin typeface="Microsoft YaHei"/>
              </a:defRPr>
            </a:pPr>
            <a:r>
              <a:t>📝 模型输出格式不稳定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920240"/>
            <a:ext cx="5029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E74C3C"/>
                </a:solidFill>
                <a:latin typeface="Microsoft YaHei"/>
              </a:defRPr>
            </a:pPr>
            <a:r>
              <a:t>问题：JSON格式错误、字段缺失、幻觉编造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240280"/>
            <a:ext cx="50292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t>解决方案：</a:t>
            </a:r>
            <a:br/>
            <a:r>
              <a:t>  ✓ 多层JSON解析容错（正则+json.loads）</a:t>
            </a:r>
            <a:br/>
            <a:r>
              <a:t>  ✓ 字段完整性校验 + 默认值填充</a:t>
            </a:r>
            <a:br/>
            <a:r>
              <a:t>  ✓ 提示词约束"不编造动作"</a:t>
            </a:r>
            <a:br/>
            <a:r>
              <a:t>  ✓ 输出后验安全过滤（safety.py）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69080"/>
            <a:ext cx="5394960" cy="237744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416052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F9A03F"/>
                </a:solidFill>
                <a:latin typeface="Microsoft YaHei"/>
              </a:defRPr>
            </a:pPr>
            <a:r>
              <a:t>⚠️ AI生成内容安全风险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526280"/>
            <a:ext cx="5029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E74C3C"/>
                </a:solidFill>
                <a:latin typeface="Microsoft YaHei"/>
              </a:defRPr>
            </a:pPr>
            <a:r>
              <a:t>问题：处方可能包含危险建议或禁忌动作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46320"/>
            <a:ext cx="50292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t>解决方案：</a:t>
            </a:r>
            <a:br/>
            <a:r>
              <a:t>  ✓ 红旗症状前置拦截（validators.py）</a:t>
            </a:r>
            <a:br/>
            <a:r>
              <a:t>  ✓ 禁忌症自动映射与动作过滤</a:t>
            </a:r>
            <a:br/>
            <a:r>
              <a:t>  ✓ 3级风险分级（绿/黄/红）</a:t>
            </a:r>
            <a:br/>
            <a:r>
              <a:t>  ✓ 所有处方末尾追加免责声明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4069080"/>
            <a:ext cx="5394960" cy="237744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9360" y="416052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1B3A5C"/>
                </a:solidFill>
                <a:latin typeface="Microsoft YaHei"/>
              </a:defRPr>
            </a:pPr>
            <a:r>
              <a:t>⏱️ 推理延迟影响体验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526280"/>
            <a:ext cx="5029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E74C3C"/>
                </a:solidFill>
                <a:latin typeface="Microsoft YaHei"/>
              </a:defRPr>
            </a:pPr>
            <a:r>
              <a:t>问题：大模型响应慢、实时姿态推理卡顿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846320"/>
            <a:ext cx="50292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36E72"/>
                </a:solidFill>
                <a:latin typeface="Microsoft YaHei"/>
              </a:defRPr>
            </a:pPr>
            <a:r>
              <a:t>解决方案：</a:t>
            </a:r>
            <a:br/>
            <a:r>
              <a:t>  ✓ 大模型：设定合理超时 + 本地兜底</a:t>
            </a:r>
            <a:br/>
            <a:r>
              <a:t>  ✓ 姿态：规则算法先行（&lt;50ms）</a:t>
            </a:r>
            <a:br/>
            <a:r>
              <a:t>  ✓ ONNX推理异步批处理 + WebSocket</a:t>
            </a:r>
            <a:br/>
            <a:r>
              <a:t>  ✓ 前端加载动画优化等待体验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73152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1B3A5C"/>
                </a:solidFill>
                <a:latin typeface="Microsoft YaHei"/>
              </a:defRPr>
            </a:pPr>
            <a:r>
              <a:t>提示词工程实践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48640"/>
            <a:ext cx="54864" cy="5486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1B3A5C"/>
                </a:solidFill>
                <a:latin typeface="Microsoft YaHei"/>
              </a:defRPr>
            </a:pPr>
            <a:r>
              <a:t>提示词设计策略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00A896"/>
                </a:solidFill>
                <a:latin typeface="Microsoft YaHei"/>
              </a:defRPr>
            </a:pPr>
            <a:r>
              <a:t>身份设定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20240"/>
            <a:ext cx="7772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明确模型角色为"康复医学助手"，建立专业语境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00A896"/>
                </a:solidFill>
                <a:latin typeface="Microsoft YaHei"/>
              </a:defRPr>
            </a:pPr>
            <a:r>
              <a:t>结构化输出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560320"/>
            <a:ext cx="7772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要求JSON格式输出，包含summary/actions/warnings/follow_up字段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0040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00A896"/>
                </a:solidFill>
                <a:latin typeface="Microsoft YaHei"/>
              </a:defRPr>
            </a:pPr>
            <a:r>
              <a:t>知识注入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200400"/>
            <a:ext cx="7772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将知识库候选动作作为上下文，限定模型在已知动作范围内推荐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40479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00A896"/>
                </a:solidFill>
                <a:latin typeface="Microsoft YaHei"/>
              </a:defRPr>
            </a:pPr>
            <a:r>
              <a:t>安全约束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3840479"/>
            <a:ext cx="7772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优先级规则：疼痛部位 &gt; 主诉 &gt; 活动度；不编造动作，安全第一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8056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00A896"/>
                </a:solidFill>
                <a:latin typeface="Microsoft YaHei"/>
              </a:defRPr>
            </a:pPr>
            <a:r>
              <a:t>兜底策略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480560"/>
            <a:ext cx="7772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API失败时使用本地模板生成标准化处方，确保流程可用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21208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1B3A5C"/>
                </a:solidFill>
                <a:latin typeface="Microsoft YaHei"/>
              </a:defRPr>
            </a:pPr>
            <a:r>
              <a:t>迭代优化历程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5669280"/>
            <a:ext cx="2560320" cy="64008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5715000"/>
            <a:ext cx="914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V1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943600"/>
            <a:ext cx="2377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基础模板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49039" y="5669280"/>
            <a:ext cx="2560320" cy="64008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840479" y="5715000"/>
            <a:ext cx="914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V2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79" y="5943600"/>
            <a:ext cx="2377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增加约束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0" y="5669280"/>
            <a:ext cx="2560320" cy="64008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75120" y="5715000"/>
            <a:ext cx="914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V3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5943600"/>
            <a:ext cx="2377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优先级规则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18320" y="5669280"/>
            <a:ext cx="2560320" cy="64008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509760" y="5715000"/>
            <a:ext cx="914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V4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5943600"/>
            <a:ext cx="2377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安全增强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8288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7200" b="1">
                <a:solidFill>
                  <a:srgbClr val="00A896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9144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>
                <a:solidFill>
                  <a:srgbClr val="FFFFFF"/>
                </a:solidFill>
                <a:latin typeface="Microsoft YaHei"/>
              </a:defRPr>
            </a:pPr>
            <a:r>
              <a:t>核心功能演示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B0B8C0"/>
                </a:solidFill>
                <a:latin typeface="Microsoft YaHei"/>
              </a:defRPr>
            </a:pPr>
            <a:r>
              <a:t>14大功能模块 · 完整业务流程闭环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73152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5486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1B3A5C"/>
                </a:solidFill>
                <a:latin typeface="Microsoft YaHei"/>
              </a:defRPr>
            </a:pPr>
            <a:r>
              <a:t>功能模块全景图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48640"/>
            <a:ext cx="54864" cy="5486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697480" cy="15087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54864" cy="150876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A896"/>
                </a:solidFill>
                <a:latin typeface="Microsoft YaHei"/>
              </a:defRPr>
            </a:pPr>
            <a:r>
              <a:t>M1  用户管理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2286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注册/登录、JWT鉴权</a:t>
            </a:r>
            <a:br/>
            <a:r>
              <a:t>三级角色（患者/医生/管理）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371600"/>
            <a:ext cx="2697480" cy="15087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37560" y="1371600"/>
            <a:ext cx="54864" cy="150876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20440" y="146304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A896"/>
                </a:solidFill>
                <a:latin typeface="Microsoft YaHei"/>
              </a:defRPr>
            </a:pPr>
            <a:r>
              <a:t>M2  患者档案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1828800"/>
            <a:ext cx="2286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姓名/年龄/疼痛部位</a:t>
            </a:r>
            <a:br/>
            <a:r>
              <a:t>既往史/过敏史/康复目标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371600"/>
            <a:ext cx="2697480" cy="15087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7920" y="1371600"/>
            <a:ext cx="54864" cy="1508760"/>
          </a:xfrm>
          <a:prstGeom prst="rect">
            <a:avLst/>
          </a:prstGeom>
          <a:solidFill>
            <a:srgbClr val="098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0" y="146304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98DD1"/>
                </a:solidFill>
                <a:latin typeface="Microsoft YaHei"/>
              </a:defRPr>
            </a:pPr>
            <a:r>
              <a:t>M3  处方生成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828800"/>
            <a:ext cx="2286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DeepSeek+RAG</a:t>
            </a:r>
            <a:br/>
            <a:r>
              <a:t>个性化康复处方+安全过滤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98280" y="1371600"/>
            <a:ext cx="2697480" cy="15087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098280" y="1371600"/>
            <a:ext cx="54864" cy="1508760"/>
          </a:xfrm>
          <a:prstGeom prst="rect">
            <a:avLst/>
          </a:prstGeom>
          <a:solidFill>
            <a:srgbClr val="098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81160" y="146304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98DD1"/>
                </a:solidFill>
                <a:latin typeface="Microsoft YaHei"/>
              </a:defRPr>
            </a:pPr>
            <a:r>
              <a:t>M4  动作知识库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1160" y="1828800"/>
            <a:ext cx="2286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16个结构化动作</a:t>
            </a:r>
            <a:br/>
            <a:r>
              <a:t>分组/频次/禁忌/进阶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63240"/>
            <a:ext cx="2697480" cy="15087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57200" y="3063240"/>
            <a:ext cx="54864" cy="1508760"/>
          </a:xfrm>
          <a:prstGeom prst="rect">
            <a:avLst/>
          </a:prstGeom>
          <a:solidFill>
            <a:srgbClr val="F9A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315468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9A03F"/>
                </a:solidFill>
                <a:latin typeface="Microsoft YaHei"/>
              </a:defRPr>
            </a:pPr>
            <a:r>
              <a:t>M5  姿态纠正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20440"/>
            <a:ext cx="2286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规则算法+RTMPose</a:t>
            </a:r>
            <a:br/>
            <a:r>
              <a:t>实时评分+纠错反馈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37560" y="3063240"/>
            <a:ext cx="2697480" cy="15087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337560" y="3063240"/>
            <a:ext cx="54864" cy="1508760"/>
          </a:xfrm>
          <a:prstGeom prst="rect">
            <a:avLst/>
          </a:prstGeom>
          <a:solidFill>
            <a:srgbClr val="F9A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520440" y="315468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9A03F"/>
                </a:solidFill>
                <a:latin typeface="Microsoft YaHei"/>
              </a:defRPr>
            </a:pPr>
            <a:r>
              <a:t>M6  训练打卡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3520440"/>
            <a:ext cx="2286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打卡记录/趋势分析</a:t>
            </a:r>
            <a:br/>
            <a:r>
              <a:t>周报/月报生成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3063240"/>
            <a:ext cx="2697480" cy="15087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217920" y="3063240"/>
            <a:ext cx="54864" cy="150876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00800" y="315468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A896"/>
                </a:solidFill>
                <a:latin typeface="Microsoft YaHei"/>
              </a:defRPr>
            </a:pPr>
            <a:r>
              <a:t>M7  影像报告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520440"/>
            <a:ext cx="2286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上传/OCR/风险识别</a:t>
            </a:r>
            <a:br/>
            <a:r>
              <a:t>红旗症状自动标记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98280" y="3063240"/>
            <a:ext cx="2697480" cy="15087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9098280" y="3063240"/>
            <a:ext cx="54864" cy="150876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281160" y="315468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A896"/>
                </a:solidFill>
                <a:latin typeface="Microsoft YaHei"/>
              </a:defRPr>
            </a:pPr>
            <a:r>
              <a:t>M8  疲劳监测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81160" y="3520440"/>
            <a:ext cx="2286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多维生理指标</a:t>
            </a:r>
            <a:br/>
            <a:r>
              <a:t>加权疲劳风险评估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754880"/>
            <a:ext cx="2697480" cy="15087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57200" y="4754880"/>
            <a:ext cx="54864" cy="15087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40080" y="484632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1B3A5C"/>
                </a:solidFill>
                <a:latin typeface="Microsoft YaHei"/>
              </a:defRPr>
            </a:pPr>
            <a:r>
              <a:t>M9  医患协同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5212080"/>
            <a:ext cx="2286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医生绑定/处方审核</a:t>
            </a:r>
            <a:br/>
            <a:r>
              <a:t>调整建议+患者采纳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37560" y="4754880"/>
            <a:ext cx="2697480" cy="15087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3337560" y="4754880"/>
            <a:ext cx="54864" cy="15087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520440" y="484632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1B3A5C"/>
                </a:solidFill>
                <a:latin typeface="Microsoft YaHei"/>
              </a:defRPr>
            </a:pPr>
            <a:r>
              <a:t>M10  知识问答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20440" y="5212080"/>
            <a:ext cx="2286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RAG检索+大模型</a:t>
            </a:r>
            <a:br/>
            <a:r>
              <a:t>康复科普+健康咨询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4754880"/>
            <a:ext cx="2697480" cy="15087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217920" y="4754880"/>
            <a:ext cx="54864" cy="1508760"/>
          </a:xfrm>
          <a:prstGeom prst="rect">
            <a:avLst/>
          </a:prstGeom>
          <a:solidFill>
            <a:srgbClr val="F9A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00800" y="484632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9A03F"/>
                </a:solidFill>
                <a:latin typeface="Microsoft YaHei"/>
              </a:defRPr>
            </a:pPr>
            <a:r>
              <a:t>M11  后台管理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5212080"/>
            <a:ext cx="2286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用户统计/反馈处理</a:t>
            </a:r>
            <a:br/>
            <a:r>
              <a:t>动作库CRUD维护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098280" y="4754880"/>
            <a:ext cx="2697480" cy="15087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9098280" y="4754880"/>
            <a:ext cx="54864" cy="1508760"/>
          </a:xfrm>
          <a:prstGeom prst="rect">
            <a:avLst/>
          </a:prstGeom>
          <a:solidFill>
            <a:srgbClr val="098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281160" y="484632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98DD1"/>
                </a:solidFill>
                <a:latin typeface="Microsoft YaHei"/>
              </a:defRPr>
            </a:pPr>
            <a:r>
              <a:t>M12  3D+语音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81160" y="5212080"/>
            <a:ext cx="2286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骨骼可视化/AR叠加</a:t>
            </a:r>
            <a:br/>
            <a:r>
              <a:t>多语气语音纠错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73152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1B3A5C"/>
                </a:solidFill>
                <a:latin typeface="Microsoft YaHei"/>
              </a:defRPr>
            </a:pPr>
            <a:r>
              <a:t>核心流程：处方生成详解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48640"/>
            <a:ext cx="54864" cy="5486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1828800" cy="4572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169164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① 信息采集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103120"/>
            <a:ext cx="1828800" cy="256032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2194560"/>
            <a:ext cx="155448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姓名/年龄/主诉</a:t>
            </a:r>
            <a:br/>
            <a:r>
              <a:t>既往病史</a:t>
            </a:r>
            <a:br/>
            <a:r>
              <a:t>疼痛部位选择</a:t>
            </a:r>
            <a:br/>
            <a:r>
              <a:t>活动度评分(1-10)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3200400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00A89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40279" y="1645920"/>
            <a:ext cx="1828800" cy="4572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240279" y="169164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② 安全检查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40279" y="2103120"/>
            <a:ext cx="1828800" cy="256032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377439" y="2194560"/>
            <a:ext cx="155448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红旗症状检测</a:t>
            </a:r>
            <a:br/>
            <a:r>
              <a:t>影像风险读取</a:t>
            </a:r>
            <a:br/>
            <a:r>
              <a:t>高危拦截 → 强制就医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3200400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00A89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06240" y="1645920"/>
            <a:ext cx="1828800" cy="4572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206240" y="169164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③ 知识检索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06240" y="2103120"/>
            <a:ext cx="1828800" cy="256032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43400" y="2194560"/>
            <a:ext cx="155448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RAG语义匹配</a:t>
            </a:r>
            <a:br/>
            <a:r>
              <a:t>候选动作检索</a:t>
            </a:r>
            <a:br/>
            <a:r>
              <a:t>知识库16个动作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200400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00A89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199" y="1645920"/>
            <a:ext cx="1828800" cy="4572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72199" y="169164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④ AI生成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199" y="2103120"/>
            <a:ext cx="1828800" cy="256032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09359" y="2194560"/>
            <a:ext cx="155448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组织提示词上下文</a:t>
            </a:r>
            <a:br/>
            <a:r>
              <a:t>DeepSeek推理</a:t>
            </a:r>
            <a:br/>
            <a:r>
              <a:t>JSON结构化输出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09559" y="3200400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00A89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60" y="1645920"/>
            <a:ext cx="1828800" cy="4572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138160" y="169164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⑤ 安全过滤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2103120"/>
            <a:ext cx="1828800" cy="256032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75320" y="2194560"/>
            <a:ext cx="155448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禁忌症映射</a:t>
            </a:r>
            <a:br/>
            <a:r>
              <a:t>动作安全降阶</a:t>
            </a:r>
            <a:br/>
            <a:r>
              <a:t>输出后验校验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0" y="3200400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00A89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104120" y="1645920"/>
            <a:ext cx="1828800" cy="45720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104120" y="169164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⑥ 结果输出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104120" y="2103120"/>
            <a:ext cx="1828800" cy="256032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241280" y="2194560"/>
            <a:ext cx="155448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636E72"/>
                </a:solidFill>
                <a:latin typeface="Microsoft YaHei"/>
              </a:defRPr>
            </a:pPr>
            <a:r>
              <a:t>处方摘要+动作列表</a:t>
            </a:r>
            <a:br/>
            <a:r>
              <a:t>训练频次+注意事项</a:t>
            </a:r>
            <a:br/>
            <a:r>
              <a:t>免责声明+导出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484632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演示输入示例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5303520"/>
            <a:ext cx="5029200" cy="1188720"/>
          </a:xfrm>
          <a:prstGeom prst="rect">
            <a:avLst/>
          </a:prstGeom>
          <a:solidFill>
            <a:srgbClr val="2D3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97280" y="5349240"/>
            <a:ext cx="466344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A8E6CF"/>
                </a:solidFill>
                <a:latin typeface="Consolas"/>
              </a:defRPr>
            </a:pPr>
            <a:r>
              <a:t>{</a:t>
            </a:r>
            <a:br/>
            <a:r>
              <a:t>  "name": "张三", "age": 30,</a:t>
            </a:r>
            <a:br/>
            <a:r>
              <a:t>  "symptoms": "腰痛，久坐后加重",</a:t>
            </a:r>
            <a:br/>
            <a:r>
              <a:t>  "pain_regions": ["腰部"],</a:t>
            </a:r>
            <a:br/>
            <a:r>
              <a:t>  "mobility_score": 5</a:t>
            </a:r>
            <a:br/>
            <a:r>
              <a:t>}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84632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API端点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5303520"/>
            <a:ext cx="50292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36E72"/>
                </a:solidFill>
                <a:latin typeface="Consolas"/>
              </a:defRPr>
            </a:pPr>
            <a:r>
              <a:t>POST /api/generate_prescription</a:t>
            </a:r>
            <a:br/>
            <a:r>
              <a:t>GET  /api/prescriptions</a:t>
            </a:r>
            <a:br/>
            <a:r>
              <a:t>GET  /api/prescriptions/{id}</a:t>
            </a:r>
            <a:br/>
            <a:r>
              <a:t>GET  /api/prescriptions/{id}/export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73152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5486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1B3A5C"/>
                </a:solidFill>
                <a:latin typeface="Microsoft YaHei"/>
              </a:defRPr>
            </a:pPr>
            <a:r>
              <a:t>项目成果指标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48640"/>
            <a:ext cx="54864" cy="5486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3291840" cy="18288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3600" b="1">
                <a:solidFill>
                  <a:srgbClr val="00A896"/>
                </a:solidFill>
                <a:latin typeface="Microsoft YaHei"/>
              </a:defRPr>
            </a:pPr>
            <a:r>
              <a:t>70+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2926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636E72"/>
                </a:solidFill>
                <a:latin typeface="Microsoft YaHei"/>
              </a:defRPr>
            </a:pPr>
            <a:r>
              <a:t>API端点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59" y="1463040"/>
            <a:ext cx="3291840" cy="18288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63439" y="173736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3600" b="1">
                <a:solidFill>
                  <a:srgbClr val="098DD1"/>
                </a:solidFill>
                <a:latin typeface="Microsoft YaHei"/>
              </a:defRPr>
            </a:pPr>
            <a: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39" y="2560320"/>
            <a:ext cx="2926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636E72"/>
                </a:solidFill>
                <a:latin typeface="Microsoft YaHei"/>
              </a:defRPr>
            </a:pPr>
            <a:r>
              <a:t>Python模块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463040"/>
            <a:ext cx="3291840" cy="18288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12480" y="173736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3600" b="1">
                <a:solidFill>
                  <a:srgbClr val="F9A03F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560320"/>
            <a:ext cx="2926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636E72"/>
                </a:solidFill>
                <a:latin typeface="Microsoft YaHei"/>
              </a:defRPr>
            </a:pPr>
            <a:r>
              <a:t>数据库表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749039"/>
            <a:ext cx="3291840" cy="18288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023359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3600" b="1">
                <a:solidFill>
                  <a:srgbClr val="1B3A5C"/>
                </a:solidFill>
                <a:latin typeface="Microsoft YaHei"/>
              </a:defRPr>
            </a:pPr>
            <a:r>
              <a:t>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46319"/>
            <a:ext cx="2926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636E72"/>
                </a:solidFill>
                <a:latin typeface="Microsoft YaHei"/>
              </a:defRPr>
            </a:pPr>
            <a:r>
              <a:t>康复动作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3749039"/>
            <a:ext cx="3291840" cy="18288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63439" y="4023359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3600" b="1">
                <a:solidFill>
                  <a:srgbClr val="27AE60"/>
                </a:solidFill>
                <a:latin typeface="Microsoft YaHei"/>
              </a:defRPr>
            </a:pPr>
            <a:r>
              <a:t>16/16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39" y="4846319"/>
            <a:ext cx="2926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636E72"/>
                </a:solidFill>
                <a:latin typeface="Microsoft YaHei"/>
              </a:defRPr>
            </a:pPr>
            <a:r>
              <a:t>测试通过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3749039"/>
            <a:ext cx="3291840" cy="18288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12480" y="4023359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3600" b="1">
                <a:solidFill>
                  <a:srgbClr val="00A896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846319"/>
            <a:ext cx="2926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636E72"/>
                </a:solidFill>
                <a:latin typeface="Microsoft YaHei"/>
              </a:defRPr>
            </a:pPr>
            <a:r>
              <a:t>Docker服务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73152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5486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1B3A5C"/>
                </a:solidFill>
                <a:latin typeface="Microsoft YaHei"/>
              </a:defRPr>
            </a:pPr>
            <a:r>
              <a:t>未来路线图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48640"/>
            <a:ext cx="54864" cy="54864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400" y="1645920"/>
            <a:ext cx="3200400" cy="73152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1737360"/>
            <a:ext cx="28346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短期</a:t>
            </a:r>
            <a:br/>
            <a:r>
              <a:t>(答辩前)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651760"/>
            <a:ext cx="2743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✅ 整理演示录屏和PPT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154680"/>
            <a:ext cx="2743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✅ 补充接口测试截图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657600"/>
            <a:ext cx="2743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✅ 完善答辩材料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160520"/>
            <a:ext cx="2743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→ 准备演示脚本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3200400" cy="731520"/>
          </a:xfrm>
          <a:prstGeom prst="rect">
            <a:avLst/>
          </a:prstGeom>
          <a:solidFill>
            <a:srgbClr val="098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54880" y="1737360"/>
            <a:ext cx="28346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中期</a:t>
            </a:r>
            <a:br/>
            <a:r>
              <a:t>(后续迭代)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651760"/>
            <a:ext cx="2743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→ 接入MediaPipe Pose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3154680"/>
            <a:ext cx="2743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→ 真机摄像头关键点提取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657600"/>
            <a:ext cx="2743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→ 扩展更多动作算法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4160520"/>
            <a:ext cx="2743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→ 处方PDF格式化导出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645920"/>
            <a:ext cx="3200400" cy="731520"/>
          </a:xfrm>
          <a:prstGeom prst="rect">
            <a:avLst/>
          </a:prstGeom>
          <a:solidFill>
            <a:srgbClr val="F9A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12480" y="1737360"/>
            <a:ext cx="28346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长期</a:t>
            </a:r>
            <a:br/>
            <a:r>
              <a:t>(生产化)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2651760"/>
            <a:ext cx="2743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→ Alembic数据库迁移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3154680"/>
            <a:ext cx="2743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→ CI/CD持续集成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3657600"/>
            <a:ext cx="2743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→ 移动端原生App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4160520"/>
            <a:ext cx="2743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36E72"/>
                </a:solidFill>
                <a:latin typeface="Microsoft YaHei"/>
              </a:defRPr>
            </a:pPr>
            <a:r>
              <a:t>→ 上线前安全审计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75488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1B3A5C"/>
                </a:solidFill>
                <a:latin typeface="Microsoft YaHei"/>
              </a:defRPr>
            </a:pPr>
            <a:r>
              <a:t>关键挑战与应对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30352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E74C3C"/>
                </a:solidFill>
                <a:latin typeface="Microsoft YaHei"/>
              </a:defRPr>
            </a:pPr>
            <a:r>
              <a:t>大模型稳定性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566928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27AE60"/>
                </a:solidFill>
                <a:latin typeface="Microsoft YaHei"/>
              </a:defRPr>
            </a:pPr>
            <a:r>
              <a:t>本地兜底 + 多层容错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530352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E74C3C"/>
                </a:solidFill>
                <a:latin typeface="Microsoft YaHei"/>
              </a:defRPr>
            </a:pPr>
            <a:r>
              <a:t>处方安全性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566928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27AE60"/>
                </a:solidFill>
                <a:latin typeface="Microsoft YaHei"/>
              </a:defRPr>
            </a:pPr>
            <a:r>
              <a:t>5层安全防护机制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530352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E74C3C"/>
                </a:solidFill>
                <a:latin typeface="Microsoft YaHei"/>
              </a:defRPr>
            </a:pPr>
            <a:r>
              <a:t>姿态识别精度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566928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27AE60"/>
                </a:solidFill>
                <a:latin typeface="Microsoft YaHei"/>
              </a:defRPr>
            </a:pPr>
            <a:r>
              <a:t>规则算法 + ONNX双模式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0" y="530352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E74C3C"/>
                </a:solidFill>
                <a:latin typeface="Microsoft YaHei"/>
              </a:defRPr>
            </a:pPr>
            <a:r>
              <a:t>团队协作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566928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27AE60"/>
                </a:solidFill>
                <a:latin typeface="Microsoft YaHei"/>
              </a:defRPr>
            </a:pPr>
            <a:r>
              <a:t>Git管理 + 模块解耦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5600" b="1">
                <a:solidFill>
                  <a:srgbClr val="FFFFFF"/>
                </a:solidFill>
                <a:latin typeface="Microsoft YaHei"/>
              </a:defRPr>
            </a:pPr>
            <a:r>
              <a:t>感谢聆听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3200" b="0">
                <a:solidFill>
                  <a:srgbClr val="00A896"/>
                </a:solidFill>
                <a:latin typeface="Arial"/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0">
                <a:solidFill>
                  <a:srgbClr val="FFFFFF"/>
                </a:solidFill>
                <a:latin typeface="Microsoft YaHei"/>
              </a:defRPr>
            </a:pPr>
            <a:r>
              <a:t>康健图谱 — 基于大模型的个性化运动康复处方生成系统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4632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B0B8C0"/>
                </a:solidFill>
                <a:latin typeface="Microsoft YaHei"/>
              </a:defRPr>
            </a:pPr>
            <a:r>
              <a:t>软件2403班  |  王恒 · 周硕 · 刘经纬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0352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B0B8C0"/>
                </a:solidFill>
                <a:latin typeface="Microsoft YaHei"/>
              </a:defRPr>
            </a:pPr>
            <a:r>
              <a:t>GitHub: beadeepr/Kangjian-Atlas-LLM-Powered-Personalized-Exercise-Rehabilitation-Prescription-System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760720"/>
            <a:ext cx="10058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F9A03F"/>
                </a:solidFill>
                <a:latin typeface="Microsoft YaHei"/>
              </a:defRPr>
            </a:pPr>
            <a:r>
              <a:t>⚠ 系统生成内容仅用于课程项目和康复建议演示，不替代医生诊断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1393</Words>
  <Application>Microsoft Office PowerPoint</Application>
  <PresentationFormat>宽屏</PresentationFormat>
  <Paragraphs>356</Paragraphs>
  <Slides>23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29" baseType="lpstr">
      <vt:lpstr>Microsoft YaHei</vt:lpstr>
      <vt:lpstr>Microsoft YaHei</vt:lpstr>
      <vt:lpstr>Arial</vt:lpstr>
      <vt:lpstr>Calibri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subject/>
  <dc:creator/>
  <cp:keywords/>
  <dc:description>generated using python-pptx</dc:description>
  <cp:lastModifiedBy>硕 周</cp:lastModifiedBy>
  <cp:revision>3</cp:revision>
  <dcterms:created xsi:type="dcterms:W3CDTF">2013-01-27T09:14:16Z</dcterms:created>
  <dcterms:modified xsi:type="dcterms:W3CDTF">2026-07-01T02:42:27Z</dcterms:modified>
  <cp:category/>
</cp:coreProperties>
</file>